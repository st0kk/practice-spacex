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71" r:id="rId5"/>
    <p:sldId id="258" r:id="rId6"/>
    <p:sldId id="259" r:id="rId7"/>
    <p:sldId id="260" r:id="rId8"/>
    <p:sldId id="261" r:id="rId9"/>
    <p:sldId id="272" r:id="rId10"/>
    <p:sldId id="269" r:id="rId11"/>
    <p:sldId id="270" r:id="rId12"/>
    <p:sldId id="273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101D0-BFA7-F1D5-150B-38A33F396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6E00F7-2818-737F-2E50-669401E1D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F2F46-4BEE-23D4-1291-59387351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CB507-510B-465A-5DC4-748F1500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CA5A72-0E7E-971A-2817-50118825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63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1528C-BAAC-6DBB-78C6-2B84B6A6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A6B6B5-AB47-0D79-5284-40564277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A22E06-DEBF-02F9-30CF-2F6DAA02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6EE917-C390-B85C-D43E-A27DE705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0E36BB-B166-BC04-EE29-8EEFE06C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8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279F5-63ED-AF87-918E-A7FF6C66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E176ED-3BB9-1FE3-D13B-DFCC1F349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DBBA7C-4829-19AB-B782-9F1638C1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A8E929-958E-8CCD-D8F6-F6CC744F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F5EBD-E5F5-CA46-2CBC-6AE686C5A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58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2FBA2-7149-8BE3-84AA-28DA81A4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7A94E-E9AD-E7A7-C2E8-9D1D96513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870824-4A97-492B-755F-E368B7004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159B1B-FCFF-A9B5-750C-131F308C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DBC09C-6C98-8BF8-4FCF-0ABEA7CF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A5A5E6-ED1A-50C0-07F7-B6F3CFD8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36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60F5E-0D07-DA5A-0C32-DE491D191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0C8763-A74F-03F5-9EE2-F2A5492CC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902426-E974-8DB7-38A2-A6BAE18AB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4F12B5-F2BC-A4B0-7293-D731E0EAF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B30A66A-28DE-A7F4-B61A-43D4ED647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99E8141-8E7F-3803-D11E-EE2EB37B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0B21DB9-74AA-6FAD-DF2C-119E0396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9F5F0F-D616-39C4-1193-713BB50D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53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35E02-64B4-178F-A0DC-F1D89BB6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E88910-7E26-B8EA-3A5E-BD502E27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4CA1B4-D0F4-29DC-6B73-D61E7A6A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654BE2-94C1-197D-F926-CE18148C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6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03F29F-494A-5CFA-B9CA-99ABA10D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6AA365-00F2-329C-BF91-40E827ED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6E4D5A-B8C0-CC6A-5765-D9C6A91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11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85802-0C2D-66EB-FF1A-F7462E48D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D6AE9-C4C3-A3DB-67A0-BBA0FBA06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155BA6-06E7-D197-B5D1-9C9F4E131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721D49-C569-5E66-F250-D3764ED6C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2AE387-A2BC-775E-A2A6-72DFCDF3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F7267F-980F-BAA1-C037-3B8A2EA2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61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EABD5-BBB9-A0C6-6140-36A568EDC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0FA29A-5342-46BA-168F-B6FE6A48F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AB8965-9A91-4509-67BD-A1685BC3B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BEA0AA-8697-D441-B7CF-F2D89D67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5D5C71-21FE-6458-6E76-8AA44012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D8F117-2CD2-57AE-AF2A-679854F8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40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1BE31D-39F5-D06F-D4FC-638E1900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F13780-C784-F2A1-AA7E-9835343D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010E1-B69F-6540-A590-DCE9A510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23994A-290F-C929-C443-218A23CC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FD4EBA-F4FA-FB15-ABC8-1ACCFCAB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95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8893C4-C925-2041-A513-A8003522A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078E19-77AB-E04D-086E-28FA05E56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9B6BBD-CB8D-F54E-1CB4-AC21CF59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99D2A-ED54-BCC6-F64B-1432A8E7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0F5AAE-94F4-CC87-6EEF-E518F946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7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64BA9-2466-B4C6-4854-F97B59B9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FF286B-9B87-E409-7319-A5A3946D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D5ACA0-A4A1-BF5D-5F6F-131BE33D2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8A8F6-2A6F-47CF-AA63-3F8C0B09B02B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5BE034-450D-0D56-9C87-636336F44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FBCE5D-F0A1-D5A7-BD2C-EFEBF9848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FF4CD-C72C-4BAC-98AE-29618BAAFB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44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87481-54D5-CC04-F2D8-911D66BAF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0221"/>
            <a:ext cx="9144000" cy="938779"/>
          </a:xfrm>
        </p:spPr>
        <p:txBody>
          <a:bodyPr/>
          <a:lstStyle/>
          <a:p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Анализ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запусков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SpaceX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760C8E-2174-33F3-9C97-B40C520FE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4884" y="3656115"/>
            <a:ext cx="7782232" cy="1655762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buClr>
                <a:srgbClr val="888888"/>
              </a:buClr>
              <a:buSzPts val="3200"/>
            </a:pPr>
            <a:r>
              <a:rPr lang="ru-RU" sz="3200" dirty="0" err="1">
                <a:solidFill>
                  <a:srgbClr val="888888"/>
                </a:solidFill>
              </a:rPr>
              <a:t>Practice-SpaceX</a:t>
            </a:r>
            <a:endParaRPr lang="ru-RU" sz="3200" dirty="0"/>
          </a:p>
          <a:p>
            <a:pPr lvl="0">
              <a:spcBef>
                <a:spcPts val="640"/>
              </a:spcBef>
              <a:buClr>
                <a:srgbClr val="888888"/>
              </a:buClr>
              <a:buSzPts val="3200"/>
            </a:pPr>
            <a:r>
              <a:rPr lang="ru-RU" sz="3200" dirty="0">
                <a:solidFill>
                  <a:srgbClr val="888888"/>
                </a:solidFill>
              </a:rPr>
              <a:t>Анализ времени суток, ракет и площадок запуска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862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88C7C-B7D2-3594-D24E-97F673F5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301681" cy="88290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Построение данных и откуда их брали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AC36A4-D7A3-DCF7-39F9-532A632E2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83" y="1050244"/>
            <a:ext cx="10515600" cy="3505387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Источники: </a:t>
            </a:r>
          </a:p>
          <a:p>
            <a:r>
              <a:rPr lang="en-US" sz="1800" b="1" dirty="0"/>
              <a:t>spacexdata.com</a:t>
            </a:r>
            <a:r>
              <a:rPr lang="en-US" sz="1800" dirty="0"/>
              <a:t> (2006–2022)</a:t>
            </a:r>
            <a:endParaRPr lang="ru-RU" sz="1800" dirty="0"/>
          </a:p>
          <a:p>
            <a:r>
              <a:rPr lang="en-US" sz="1800" b="1" dirty="0"/>
              <a:t>thespacedevs.com</a:t>
            </a:r>
            <a:r>
              <a:rPr lang="en-US" sz="1800" dirty="0"/>
              <a:t> (2023–2025)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2400" dirty="0"/>
              <a:t>Структура </a:t>
            </a:r>
            <a:r>
              <a:rPr lang="en-US" sz="2400" dirty="0"/>
              <a:t>CSV </a:t>
            </a:r>
            <a:r>
              <a:rPr lang="ru-RU" sz="2400" dirty="0"/>
              <a:t>файла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ru-RU" dirty="0"/>
              <a:t> </a:t>
            </a:r>
            <a:r>
              <a:rPr lang="ru-RU" sz="1800" i="1" dirty="0"/>
              <a:t>дата и время / ракета / площадка / успешность</a:t>
            </a:r>
            <a:r>
              <a:rPr lang="ru-RU" sz="1800" dirty="0"/>
              <a:t>.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2400" dirty="0"/>
              <a:t>CSV загрузили в </a:t>
            </a:r>
            <a:r>
              <a:rPr lang="ru-RU" sz="2400" dirty="0" err="1"/>
              <a:t>DataLens</a:t>
            </a:r>
            <a:r>
              <a:rPr lang="ru-RU" sz="2400" dirty="0"/>
              <a:t>, где на его основе создан датасет.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075E812-C0A0-3169-E142-C0BC4D8273B8}"/>
              </a:ext>
            </a:extLst>
          </p:cNvPr>
          <p:cNvGrpSpPr/>
          <p:nvPr/>
        </p:nvGrpSpPr>
        <p:grpSpPr>
          <a:xfrm>
            <a:off x="752661" y="4722972"/>
            <a:ext cx="11012602" cy="1992517"/>
            <a:chOff x="761715" y="4811495"/>
            <a:chExt cx="11012602" cy="1992517"/>
          </a:xfrm>
        </p:grpSpPr>
        <p:pic>
          <p:nvPicPr>
            <p:cNvPr id="8194" name="Picture 2" descr="Picture background">
              <a:extLst>
                <a:ext uri="{FF2B5EF4-FFF2-40B4-BE49-F238E27FC236}">
                  <a16:creationId xmlns:a16="http://schemas.microsoft.com/office/drawing/2014/main" id="{EB9F649B-C562-8AD2-2FEB-55B220EAB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7514" y="5031585"/>
              <a:ext cx="3516803" cy="1552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0" name="Picture 8" descr="Picture background">
              <a:extLst>
                <a:ext uri="{FF2B5EF4-FFF2-40B4-BE49-F238E27FC236}">
                  <a16:creationId xmlns:a16="http://schemas.microsoft.com/office/drawing/2014/main" id="{7A7A6B4E-C5A6-C610-F528-45B139441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7" t="15010" r="4907" b="15997"/>
            <a:stretch>
              <a:fillRect/>
            </a:stretch>
          </p:blipFill>
          <p:spPr bwMode="auto">
            <a:xfrm>
              <a:off x="761715" y="5190992"/>
              <a:ext cx="1610293" cy="1233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4" name="Picture 12" descr="Picture background">
              <a:extLst>
                <a:ext uri="{FF2B5EF4-FFF2-40B4-BE49-F238E27FC236}">
                  <a16:creationId xmlns:a16="http://schemas.microsoft.com/office/drawing/2014/main" id="{844B8761-A604-F593-04D0-242A37FE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502" y="4811495"/>
              <a:ext cx="1992517" cy="19925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74A2E5BC-3B32-061A-0633-976895365EDA}"/>
                </a:ext>
              </a:extLst>
            </p:cNvPr>
            <p:cNvCxnSpPr>
              <a:cxnSpLocks/>
              <a:stCxn id="8200" idx="3"/>
              <a:endCxn id="8204" idx="1"/>
            </p:cNvCxnSpPr>
            <p:nvPr/>
          </p:nvCxnSpPr>
          <p:spPr>
            <a:xfrm flipV="1">
              <a:off x="2372008" y="5807754"/>
              <a:ext cx="1946494" cy="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AD611A86-088F-45E6-0283-90372A0A0968}"/>
                </a:ext>
              </a:extLst>
            </p:cNvPr>
            <p:cNvCxnSpPr>
              <a:stCxn id="8204" idx="3"/>
              <a:endCxn id="8194" idx="1"/>
            </p:cNvCxnSpPr>
            <p:nvPr/>
          </p:nvCxnSpPr>
          <p:spPr>
            <a:xfrm>
              <a:off x="6311019" y="5807754"/>
              <a:ext cx="1946495" cy="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931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23C21-84BC-6BA4-B3D6-719C2C4B1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53846"/>
            <a:ext cx="4097434" cy="1974952"/>
          </a:xfrm>
        </p:spPr>
        <p:txBody>
          <a:bodyPr>
            <a:normAutofit/>
          </a:bodyPr>
          <a:lstStyle/>
          <a:p>
            <a:r>
              <a:rPr lang="ru-RU" b="1" dirty="0"/>
              <a:t>Общая картина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480699-1F5C-06AE-25EF-AD14C8611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" y="5333488"/>
            <a:ext cx="12113343" cy="1456612"/>
          </a:xfrm>
        </p:spPr>
        <p:txBody>
          <a:bodyPr>
            <a:normAutofit/>
          </a:bodyPr>
          <a:lstStyle/>
          <a:p>
            <a:r>
              <a:rPr lang="ru-RU" sz="2400" dirty="0"/>
              <a:t>ночью производится больше запусков (57% ночью против 43% днем)</a:t>
            </a:r>
          </a:p>
          <a:p>
            <a:r>
              <a:rPr lang="ru-RU" sz="2400" dirty="0"/>
              <a:t>время суток не влияет на успешность запусков ракет (диаграммы (2) и (3) совпадают)</a:t>
            </a:r>
          </a:p>
          <a:p>
            <a:r>
              <a:rPr lang="ru-RU" sz="2400" dirty="0"/>
              <a:t>сезонность запусков отсутствует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A2177-EF6B-0D94-CAA2-C9866D0E0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9" r="16768" b="2435"/>
          <a:stretch>
            <a:fillRect/>
          </a:stretch>
        </p:blipFill>
        <p:spPr bwMode="auto">
          <a:xfrm>
            <a:off x="96667" y="978907"/>
            <a:ext cx="4116186" cy="403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447AECB-07FC-B243-0912-D58DF444C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4" r="16979" b="2594"/>
          <a:stretch>
            <a:fillRect/>
          </a:stretch>
        </p:blipFill>
        <p:spPr bwMode="auto">
          <a:xfrm>
            <a:off x="4309520" y="984565"/>
            <a:ext cx="4097434" cy="403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C221867-9E80-0A63-3C58-E1EE54054C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1" r="21626" b="2752"/>
          <a:stretch>
            <a:fillRect/>
          </a:stretch>
        </p:blipFill>
        <p:spPr bwMode="auto">
          <a:xfrm>
            <a:off x="8503621" y="978907"/>
            <a:ext cx="3526251" cy="403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43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5ABFA-2219-0C3F-8610-A520C4E6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3010"/>
            <a:ext cx="10515600" cy="1325563"/>
          </a:xfrm>
        </p:spPr>
        <p:txBody>
          <a:bodyPr/>
          <a:lstStyle/>
          <a:p>
            <a:r>
              <a:rPr lang="ru-RU" b="1" dirty="0"/>
              <a:t>Сезонность запусков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0C0E34-45CE-18C6-9506-AD106765F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0" t="9881" r="23620" b="2152"/>
          <a:stretch>
            <a:fillRect/>
          </a:stretch>
        </p:blipFill>
        <p:spPr bwMode="auto">
          <a:xfrm>
            <a:off x="3306773" y="684198"/>
            <a:ext cx="5578454" cy="617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636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B717D-2F59-2E38-637E-1443B447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4642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Анализ по площадкам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711042-087A-C0E7-5204-D61602A3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0" y="5068031"/>
            <a:ext cx="11838039" cy="1680642"/>
          </a:xfrm>
        </p:spPr>
        <p:txBody>
          <a:bodyPr>
            <a:normAutofit/>
          </a:bodyPr>
          <a:lstStyle/>
          <a:p>
            <a:r>
              <a:rPr lang="ru-RU" sz="2400" b="1" dirty="0"/>
              <a:t>SLC-40</a:t>
            </a:r>
            <a:r>
              <a:rPr lang="ru-RU" sz="2400" dirty="0"/>
              <a:t> и </a:t>
            </a:r>
            <a:r>
              <a:rPr lang="ru-RU" sz="2400" b="1" dirty="0"/>
              <a:t>LC-39A</a:t>
            </a:r>
            <a:r>
              <a:rPr lang="ru-RU" sz="2400" dirty="0"/>
              <a:t> - у них </a:t>
            </a:r>
            <a:r>
              <a:rPr lang="ru-RU" sz="2400" b="1" dirty="0"/>
              <a:t>ночных</a:t>
            </a:r>
            <a:r>
              <a:rPr lang="ru-RU" sz="2400" dirty="0"/>
              <a:t> запусков сильно больше дневных</a:t>
            </a:r>
          </a:p>
          <a:p>
            <a:r>
              <a:rPr lang="ru-RU" sz="2400" dirty="0"/>
              <a:t>Равномерное распределение запусков по времени суток на площадке </a:t>
            </a:r>
            <a:r>
              <a:rPr lang="ru-RU" sz="2400" b="1" dirty="0"/>
              <a:t>SLC-4E</a:t>
            </a:r>
          </a:p>
          <a:p>
            <a:r>
              <a:rPr lang="ru-RU" sz="2400" dirty="0"/>
              <a:t>У</a:t>
            </a:r>
            <a:r>
              <a:rPr lang="ru-RU" sz="2400" b="1" dirty="0"/>
              <a:t> </a:t>
            </a:r>
            <a:r>
              <a:rPr lang="ru-RU" sz="2400" b="1" dirty="0" err="1"/>
              <a:t>Kwajalein</a:t>
            </a:r>
            <a:r>
              <a:rPr lang="ru-RU" sz="2400" b="1" dirty="0"/>
              <a:t> </a:t>
            </a:r>
            <a:r>
              <a:rPr lang="ru-RU" sz="2400" b="1" dirty="0" err="1"/>
              <a:t>Atoll</a:t>
            </a:r>
            <a:r>
              <a:rPr lang="ru-RU" sz="2400" b="1" dirty="0"/>
              <a:t> </a:t>
            </a:r>
            <a:r>
              <a:rPr lang="ru-RU" sz="2400" dirty="0"/>
              <a:t>и </a:t>
            </a:r>
            <a:r>
              <a:rPr lang="ru-RU" sz="2400" b="1" dirty="0"/>
              <a:t>OLP-1</a:t>
            </a:r>
            <a:r>
              <a:rPr lang="ru-RU" sz="2400" dirty="0"/>
              <a:t> доминируют дневные запуски, но запусков на каждой из них было немного</a:t>
            </a:r>
            <a:endParaRPr lang="ru-RU" sz="24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1AF6BE3-9AEC-1CFE-91CC-43540262B9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" t="1406" r="2722" b="2594"/>
          <a:stretch>
            <a:fillRect/>
          </a:stretch>
        </p:blipFill>
        <p:spPr bwMode="auto">
          <a:xfrm>
            <a:off x="105622" y="1090921"/>
            <a:ext cx="5824009" cy="386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5CEBE7F-B96E-4AD1-5D80-31F71DE96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" t="1406" r="2934" b="2685"/>
          <a:stretch>
            <a:fillRect/>
          </a:stretch>
        </p:blipFill>
        <p:spPr bwMode="auto">
          <a:xfrm>
            <a:off x="6191009" y="1090921"/>
            <a:ext cx="5824009" cy="387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778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08A1D-5824-EAB7-1928-F2B38DD1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977" y="1777173"/>
            <a:ext cx="8350045" cy="1325563"/>
          </a:xfrm>
        </p:spPr>
        <p:txBody>
          <a:bodyPr>
            <a:normAutofit/>
          </a:bodyPr>
          <a:lstStyle/>
          <a:p>
            <a:r>
              <a:rPr lang="ru-RU" sz="6600" dirty="0"/>
              <a:t>Анализ по типам ракет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D986A-07C1-C5F0-FA1F-55298822069D}"/>
              </a:ext>
            </a:extLst>
          </p:cNvPr>
          <p:cNvSpPr txBox="1"/>
          <p:nvPr/>
        </p:nvSpPr>
        <p:spPr>
          <a:xfrm>
            <a:off x="1528563" y="3433665"/>
            <a:ext cx="91348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Гипотеза: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Если ракета запускается с площадок, то диаграмма дневных/ночных запусков ракеты на площадке совпадает с диаграммой дневных/ночных запусков на площадке в целом.</a:t>
            </a:r>
          </a:p>
        </p:txBody>
      </p:sp>
    </p:spTree>
    <p:extLst>
      <p:ext uri="{BB962C8B-B14F-4D97-AF65-F5344CB8AC3E}">
        <p14:creationId xmlns:p14="http://schemas.microsoft.com/office/powerpoint/2010/main" val="56553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9C04A-D439-7909-E967-00CE65B3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9075"/>
            <a:ext cx="10515600" cy="1325563"/>
          </a:xfrm>
        </p:spPr>
        <p:txBody>
          <a:bodyPr/>
          <a:lstStyle/>
          <a:p>
            <a:r>
              <a:rPr lang="en-US" b="1" dirty="0"/>
              <a:t>Falcon 1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0AA341-63F6-8A34-6481-171853D2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75" y="5265646"/>
            <a:ext cx="7034251" cy="1325563"/>
          </a:xfrm>
        </p:spPr>
        <p:txBody>
          <a:bodyPr>
            <a:normAutofit/>
          </a:bodyPr>
          <a:lstStyle/>
          <a:p>
            <a:pPr marL="342900" lvl="0" indent="-29210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Экспериментальная ракета (2006–2009)</a:t>
            </a:r>
            <a:endParaRPr lang="ru-RU" sz="2400" dirty="0"/>
          </a:p>
          <a:p>
            <a:pPr marL="342900" lvl="0" indent="-292100">
              <a:spcBef>
                <a:spcPts val="640"/>
              </a:spcBef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Мало запусков, высокая доля неудач</a:t>
            </a:r>
            <a:endParaRPr lang="ru-RU" sz="2400" dirty="0"/>
          </a:p>
          <a:p>
            <a:pPr marL="342900" lvl="0" indent="-292100">
              <a:spcBef>
                <a:spcPts val="640"/>
              </a:spcBef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Использовалась площадка </a:t>
            </a:r>
            <a:r>
              <a:rPr lang="ru-RU" sz="24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Kwajalein</a:t>
            </a: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u-RU" sz="24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Atoll</a:t>
            </a:r>
            <a:endParaRPr lang="ru-RU" sz="2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47E6998-B0E4-3CC6-6D40-9C8234881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931" r="24583" b="2277"/>
          <a:stretch>
            <a:fillRect/>
          </a:stretch>
        </p:blipFill>
        <p:spPr bwMode="auto">
          <a:xfrm>
            <a:off x="146931" y="779995"/>
            <a:ext cx="3434645" cy="4362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540CC708-EA2B-D861-51F9-B18FE39A3D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15" r="35566"/>
          <a:stretch>
            <a:fillRect/>
          </a:stretch>
        </p:blipFill>
        <p:spPr bwMode="auto">
          <a:xfrm>
            <a:off x="8400783" y="391280"/>
            <a:ext cx="2261748" cy="607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2A3046A-14D1-1135-59A9-5B19A80F2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1" t="1428" r="24784" b="2245"/>
          <a:stretch>
            <a:fillRect/>
          </a:stretch>
        </p:blipFill>
        <p:spPr bwMode="auto">
          <a:xfrm>
            <a:off x="4273856" y="766161"/>
            <a:ext cx="3434646" cy="437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18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30FAE-F0A1-DC5C-2036-3937FEA9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307"/>
            <a:ext cx="10515600" cy="1325563"/>
          </a:xfrm>
        </p:spPr>
        <p:txBody>
          <a:bodyPr/>
          <a:lstStyle/>
          <a:p>
            <a:r>
              <a:rPr lang="en-US" b="1" dirty="0"/>
              <a:t>Falcon 9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8E47-F096-CE57-80DE-7E4D099F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532" y="5371908"/>
            <a:ext cx="5623468" cy="1250766"/>
          </a:xfrm>
        </p:spPr>
        <p:txBody>
          <a:bodyPr>
            <a:normAutofit/>
          </a:bodyPr>
          <a:lstStyle/>
          <a:p>
            <a:pPr marL="342900" lvl="0" indent="-285750">
              <a:spcBef>
                <a:spcPts val="0"/>
              </a:spcBef>
              <a:buClr>
                <a:schemeClr val="dk1"/>
              </a:buClr>
              <a:buSzPts val="23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Основная ракета </a:t>
            </a:r>
            <a:r>
              <a:rPr lang="ru-RU" sz="24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SpaceX</a:t>
            </a: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с 2010 года</a:t>
            </a:r>
            <a:endParaRPr lang="ru-RU" sz="2400" dirty="0"/>
          </a:p>
          <a:p>
            <a:pPr marL="342900" lvl="0" indent="-285750">
              <a:spcBef>
                <a:spcPts val="640"/>
              </a:spcBef>
              <a:buClr>
                <a:schemeClr val="dk1"/>
              </a:buClr>
              <a:buSzPts val="23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Около 150 запусков в год</a:t>
            </a:r>
            <a:endParaRPr lang="ru-RU" sz="2400" dirty="0"/>
          </a:p>
          <a:p>
            <a:pPr marL="342900" lvl="0" indent="-285750">
              <a:spcBef>
                <a:spcPts val="640"/>
              </a:spcBef>
              <a:buClr>
                <a:schemeClr val="dk1"/>
              </a:buClr>
              <a:buSzPts val="23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Почти 100% успешность</a:t>
            </a:r>
            <a:endParaRPr lang="ru-RU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3B5A4E2-EA2C-4712-1C40-6701D1372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2" r="17297" b="2435"/>
          <a:stretch>
            <a:fillRect/>
          </a:stretch>
        </p:blipFill>
        <p:spPr bwMode="auto">
          <a:xfrm>
            <a:off x="175031" y="687048"/>
            <a:ext cx="4445254" cy="443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C6A63369-649F-B41F-D171-AC00ED5D7C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" r="7053" b="2752"/>
          <a:stretch>
            <a:fillRect/>
          </a:stretch>
        </p:blipFill>
        <p:spPr bwMode="auto">
          <a:xfrm>
            <a:off x="4795316" y="235326"/>
            <a:ext cx="6952531" cy="488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82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96DF189-9977-54DC-AD32-273BB282BE75}"/>
              </a:ext>
            </a:extLst>
          </p:cNvPr>
          <p:cNvGrpSpPr/>
          <p:nvPr/>
        </p:nvGrpSpPr>
        <p:grpSpPr>
          <a:xfrm>
            <a:off x="2045816" y="70334"/>
            <a:ext cx="10146184" cy="6749189"/>
            <a:chOff x="425246" y="572880"/>
            <a:chExt cx="11205980" cy="7614972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FAEE7C15-4616-1E23-B6DF-D1166EEDE0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88" t="323" r="18458" b="3160"/>
            <a:stretch>
              <a:fillRect/>
            </a:stretch>
          </p:blipFill>
          <p:spPr bwMode="auto">
            <a:xfrm>
              <a:off x="425246" y="572881"/>
              <a:ext cx="3714135" cy="3802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AA1FCA25-8524-D8C3-AAD5-79A7331FDB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05" t="1355" r="19606" b="2817"/>
            <a:stretch>
              <a:fillRect/>
            </a:stretch>
          </p:blipFill>
          <p:spPr bwMode="auto">
            <a:xfrm>
              <a:off x="4139381" y="572880"/>
              <a:ext cx="3617934" cy="3802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>
              <a:extLst>
                <a:ext uri="{FF2B5EF4-FFF2-40B4-BE49-F238E27FC236}">
                  <a16:creationId xmlns:a16="http://schemas.microsoft.com/office/drawing/2014/main" id="{1FFD73F9-BBA8-397F-4A29-A7DCDA3551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41" t="1527" r="17541" b="2817"/>
            <a:stretch>
              <a:fillRect/>
            </a:stretch>
          </p:blipFill>
          <p:spPr bwMode="auto">
            <a:xfrm>
              <a:off x="7757315" y="572880"/>
              <a:ext cx="3873910" cy="3805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>
              <a:extLst>
                <a:ext uri="{FF2B5EF4-FFF2-40B4-BE49-F238E27FC236}">
                  <a16:creationId xmlns:a16="http://schemas.microsoft.com/office/drawing/2014/main" id="{6A3B2C44-3AE1-729D-E7CE-3DB74CF73F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88" t="1183" r="18458" b="2817"/>
            <a:stretch>
              <a:fillRect/>
            </a:stretch>
          </p:blipFill>
          <p:spPr bwMode="auto">
            <a:xfrm>
              <a:off x="425246" y="4382386"/>
              <a:ext cx="3737268" cy="3805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0" name="Picture 10">
              <a:extLst>
                <a:ext uri="{FF2B5EF4-FFF2-40B4-BE49-F238E27FC236}">
                  <a16:creationId xmlns:a16="http://schemas.microsoft.com/office/drawing/2014/main" id="{87EE027B-1238-E830-A788-26AF6FC3BB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19" t="1700" r="19607" b="2817"/>
            <a:stretch>
              <a:fillRect/>
            </a:stretch>
          </p:blipFill>
          <p:spPr bwMode="auto">
            <a:xfrm>
              <a:off x="4156327" y="4375125"/>
              <a:ext cx="3624121" cy="3802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2" name="Picture 12">
              <a:extLst>
                <a:ext uri="{FF2B5EF4-FFF2-40B4-BE49-F238E27FC236}">
                  <a16:creationId xmlns:a16="http://schemas.microsoft.com/office/drawing/2014/main" id="{BA74D4B5-8D0B-44C2-58DD-923A29299A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41" t="1355" r="17541" b="2989"/>
            <a:stretch>
              <a:fillRect/>
            </a:stretch>
          </p:blipFill>
          <p:spPr bwMode="auto">
            <a:xfrm>
              <a:off x="7757315" y="4371902"/>
              <a:ext cx="3873911" cy="3805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A3F9D4-B853-7DEE-C654-E44162E8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307"/>
            <a:ext cx="10515600" cy="1325563"/>
          </a:xfrm>
        </p:spPr>
        <p:txBody>
          <a:bodyPr/>
          <a:lstStyle/>
          <a:p>
            <a:r>
              <a:rPr lang="en-US" b="1" dirty="0"/>
              <a:t>Falcon 9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6262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A652-22C7-AB61-D880-C7A7AF45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8086B-37F8-E3DC-746C-C6255612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307"/>
            <a:ext cx="10515600" cy="1325563"/>
          </a:xfrm>
        </p:spPr>
        <p:txBody>
          <a:bodyPr/>
          <a:lstStyle/>
          <a:p>
            <a:r>
              <a:rPr lang="en-US" b="1" dirty="0"/>
              <a:t>Falcon Heavy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CDD72E-2EBD-26EE-36D3-4F31373F8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97" y="5224838"/>
            <a:ext cx="4507798" cy="1325563"/>
          </a:xfrm>
        </p:spPr>
        <p:txBody>
          <a:bodyPr>
            <a:normAutofit/>
          </a:bodyPr>
          <a:lstStyle/>
          <a:p>
            <a:pPr marL="342900" lvl="0" indent="-29210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Используется с 2018 года</a:t>
            </a:r>
            <a:endParaRPr lang="ru-RU" sz="2400" dirty="0"/>
          </a:p>
          <a:p>
            <a:pPr marL="342900" lvl="0" indent="-292100">
              <a:spcBef>
                <a:spcPts val="640"/>
              </a:spcBef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Редкие, но сложные миссии</a:t>
            </a:r>
            <a:endParaRPr lang="ru-RU" sz="2400" dirty="0"/>
          </a:p>
          <a:p>
            <a:pPr marL="342900" lvl="0" indent="-292100">
              <a:spcBef>
                <a:spcPts val="640"/>
              </a:spcBef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Все запуски успешны</a:t>
            </a:r>
            <a:endParaRPr lang="ru-RU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CAFCEF-680B-B1EE-0F0F-31FBA56B5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r="18445" b="2202"/>
          <a:stretch>
            <a:fillRect/>
          </a:stretch>
        </p:blipFill>
        <p:spPr bwMode="auto">
          <a:xfrm>
            <a:off x="181897" y="802149"/>
            <a:ext cx="4006645" cy="403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8ACC15F-9FB8-E001-D9B0-93E06902DD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0" r="30273"/>
          <a:stretch>
            <a:fillRect/>
          </a:stretch>
        </p:blipFill>
        <p:spPr bwMode="auto">
          <a:xfrm>
            <a:off x="8676968" y="408474"/>
            <a:ext cx="3333135" cy="6035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FD154A5-D19E-7F33-C796-B0E4DDF5E5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9" t="1091" r="18352" b="2911"/>
          <a:stretch>
            <a:fillRect/>
          </a:stretch>
        </p:blipFill>
        <p:spPr bwMode="auto">
          <a:xfrm>
            <a:off x="4370439" y="800753"/>
            <a:ext cx="3971929" cy="403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073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DBA9-22F5-2250-D415-6C049E7D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C668D-F35B-B7D1-CD83-8BE72BAC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307"/>
            <a:ext cx="10515600" cy="1325563"/>
          </a:xfrm>
        </p:spPr>
        <p:txBody>
          <a:bodyPr/>
          <a:lstStyle/>
          <a:p>
            <a:r>
              <a:rPr lang="en-US" b="1" dirty="0"/>
              <a:t>Starship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0BA8BC-6E68-1C71-BCB9-7053A771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" y="4842216"/>
            <a:ext cx="11828206" cy="1821134"/>
          </a:xfrm>
        </p:spPr>
        <p:txBody>
          <a:bodyPr>
            <a:normAutofit/>
          </a:bodyPr>
          <a:lstStyle/>
          <a:p>
            <a:pPr marL="342900" lvl="0" indent="-279400">
              <a:spcBef>
                <a:spcPts val="0"/>
              </a:spcBef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Новая ракета (с 2023 года)</a:t>
            </a:r>
            <a:endParaRPr lang="ru-RU" sz="2400" dirty="0"/>
          </a:p>
          <a:p>
            <a:pPr marL="342900" lvl="0" indent="-279400">
              <a:spcBef>
                <a:spcPts val="640"/>
              </a:spcBef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Высокая доля неудач</a:t>
            </a:r>
            <a:endParaRPr lang="ru-RU" sz="2400" dirty="0"/>
          </a:p>
          <a:p>
            <a:pPr marL="342900" lvl="0" indent="-279400">
              <a:spcBef>
                <a:spcPts val="640"/>
              </a:spcBef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Находится на этапе тестирования</a:t>
            </a:r>
            <a:endParaRPr lang="en-US" sz="2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63500" indent="0">
              <a:spcBef>
                <a:spcPts val="640"/>
              </a:spcBef>
              <a:buClr>
                <a:schemeClr val="dk1"/>
              </a:buClr>
              <a:buSzPts val="2200"/>
              <a:buNone/>
            </a:pPr>
            <a:r>
              <a:rPr lang="ru-RU" sz="18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Starship</a:t>
            </a:r>
            <a:r>
              <a:rPr 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— новая ракета </a:t>
            </a:r>
            <a:r>
              <a:rPr lang="ru-RU" sz="18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SpaceX</a:t>
            </a:r>
            <a:r>
              <a:rPr 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находящаяся на этапе активного тестирования. Доля неудачных запусков выше, чем у других ракет.</a:t>
            </a:r>
            <a:endParaRPr lang="ru-RU" sz="1800" dirty="0"/>
          </a:p>
          <a:p>
            <a:pPr marL="63500" lvl="0" indent="0">
              <a:spcBef>
                <a:spcPts val="640"/>
              </a:spcBef>
              <a:buClr>
                <a:schemeClr val="dk1"/>
              </a:buClr>
              <a:buSzPts val="2200"/>
              <a:buNone/>
            </a:pPr>
            <a:endParaRPr lang="ru-RU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909527-9D90-5408-A624-D7C15471F8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4" r="20358" b="2119"/>
          <a:stretch>
            <a:fillRect/>
          </a:stretch>
        </p:blipFill>
        <p:spPr bwMode="auto">
          <a:xfrm>
            <a:off x="0" y="735573"/>
            <a:ext cx="3658015" cy="402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FA8B1C7-2E29-95E4-2C9B-3EBF0265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5" r="28779"/>
          <a:stretch>
            <a:fillRect/>
          </a:stretch>
        </p:blipFill>
        <p:spPr bwMode="auto">
          <a:xfrm>
            <a:off x="7985157" y="408474"/>
            <a:ext cx="3286407" cy="550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81053BA-DE83-6803-C240-D13556416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6" t="1090" r="20570" b="2673"/>
          <a:stretch>
            <a:fillRect/>
          </a:stretch>
        </p:blipFill>
        <p:spPr bwMode="auto">
          <a:xfrm>
            <a:off x="3838731" y="747973"/>
            <a:ext cx="3658014" cy="400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23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ранспорт, ракета, космический корабль, Космический шат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40AD2C-AD3A-8E80-48E3-4A6C148E64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1000"/>
                    </a14:imgEffect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6782" y="595075"/>
            <a:ext cx="5010339" cy="6262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AE6B8-C7B0-3D7B-D215-74AEE392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10339" cy="875200"/>
          </a:xfrm>
        </p:spPr>
        <p:txBody>
          <a:bodyPr/>
          <a:lstStyle/>
          <a:p>
            <a:r>
              <a:rPr lang="ru-RU" b="1" dirty="0"/>
              <a:t>Вывод из гипотезы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DDD422-3B5D-E53C-E78A-912484B3A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8387" y="1470275"/>
            <a:ext cx="8626013" cy="1601741"/>
          </a:xfrm>
        </p:spPr>
        <p:txBody>
          <a:bodyPr>
            <a:normAutofit/>
          </a:bodyPr>
          <a:lstStyle/>
          <a:p>
            <a:r>
              <a:rPr lang="ru-RU" sz="2400" dirty="0"/>
              <a:t>Наша гипотеза подтвердилась для всех ракет. Из этого следует, что </a:t>
            </a:r>
            <a:r>
              <a:rPr lang="ru-RU" sz="2400" u="sng" dirty="0"/>
              <a:t>на время запуска влияет локация (площадка), а не сама ракета.</a:t>
            </a:r>
          </a:p>
        </p:txBody>
      </p:sp>
      <p:pic>
        <p:nvPicPr>
          <p:cNvPr id="10" name="Рисунок 9" descr="Изображение выглядит как транспорт, ракета, космический корабль, Космический шат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74539B-162D-5783-3F6D-A3A47EA515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1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84000"/>
                    </a14:imgEffect>
                    <a14:imgEffect>
                      <a14:brightnessContrast bright="-10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14792" y="1074824"/>
            <a:ext cx="5091408" cy="578317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798072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38B17-23DF-A598-DDB0-CC261B961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96"/>
            <a:ext cx="7047368" cy="1325563"/>
          </a:xfrm>
        </p:spPr>
        <p:txBody>
          <a:bodyPr/>
          <a:lstStyle/>
          <a:p>
            <a:r>
              <a:rPr lang="ru-RU" b="1" dirty="0"/>
              <a:t>Общий вывод о компании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B0F4C-403E-27C7-801C-17345D911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247" y="911225"/>
            <a:ext cx="11769505" cy="2085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/>
              <a:t>SpaceX</a:t>
            </a:r>
            <a:r>
              <a:rPr lang="ru-RU" sz="2400" dirty="0"/>
              <a:t> совершили сильный прорыв с 2006 года. Сейчас практически 100% запусков ракет являются успешными вне зависимости от времени суток или времени года. Четка видно, что компания не стоит на месте и постоянно развивается: тестируются ракеты, открываются новые площадки. Статистика запусков подтверждает статус </a:t>
            </a:r>
            <a:r>
              <a:rPr lang="ru-RU" sz="2400" dirty="0" err="1"/>
              <a:t>SpaceX</a:t>
            </a:r>
            <a:r>
              <a:rPr lang="ru-RU" sz="2400" dirty="0"/>
              <a:t>, как ведущей частной космической компании.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5C04090-5616-7E0E-DA2D-113E260DAE75}"/>
              </a:ext>
            </a:extLst>
          </p:cNvPr>
          <p:cNvGrpSpPr/>
          <p:nvPr/>
        </p:nvGrpSpPr>
        <p:grpSpPr>
          <a:xfrm>
            <a:off x="2236431" y="2761307"/>
            <a:ext cx="7719136" cy="4096693"/>
            <a:chOff x="211247" y="3259248"/>
            <a:chExt cx="6381135" cy="3459604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E5468379-BDD8-447E-62C2-F698697652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9" t="19039" r="1943" b="1957"/>
            <a:stretch>
              <a:fillRect/>
            </a:stretch>
          </p:blipFill>
          <p:spPr bwMode="auto">
            <a:xfrm>
              <a:off x="211247" y="3259248"/>
              <a:ext cx="6381135" cy="3459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725A47E4-8F0A-ABD7-0739-F03FA941D4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875" r="36438" b="95720"/>
            <a:stretch>
              <a:fillRect/>
            </a:stretch>
          </p:blipFill>
          <p:spPr bwMode="auto">
            <a:xfrm>
              <a:off x="2343642" y="3259248"/>
              <a:ext cx="2116344" cy="244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C52E527-D50E-BFF9-68F3-72B8A2AF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25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479" y="6331675"/>
            <a:ext cx="2130089" cy="2887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14705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347</Words>
  <Application>Microsoft Office PowerPoint</Application>
  <PresentationFormat>Широкоэкранный</PresentationFormat>
  <Paragraphs>46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Тема Office</vt:lpstr>
      <vt:lpstr>Анализ запусков SpaceX</vt:lpstr>
      <vt:lpstr>Построение данных и откуда их брали</vt:lpstr>
      <vt:lpstr>Общая картина</vt:lpstr>
      <vt:lpstr>Сезонность запусков</vt:lpstr>
      <vt:lpstr>Анализ по площадкам</vt:lpstr>
      <vt:lpstr>Анализ по типам ракет</vt:lpstr>
      <vt:lpstr>Falcon 1</vt:lpstr>
      <vt:lpstr>Falcon 9</vt:lpstr>
      <vt:lpstr>Falcon 9</vt:lpstr>
      <vt:lpstr>Falcon Heavy</vt:lpstr>
      <vt:lpstr>Starship</vt:lpstr>
      <vt:lpstr>Вывод из гипотезы</vt:lpstr>
      <vt:lpstr>Общий вывод о компании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Evstigneev</dc:creator>
  <cp:lastModifiedBy>Sergey Evstigneev</cp:lastModifiedBy>
  <cp:revision>7</cp:revision>
  <dcterms:created xsi:type="dcterms:W3CDTF">2026-01-15T14:00:09Z</dcterms:created>
  <dcterms:modified xsi:type="dcterms:W3CDTF">2026-01-18T16:48:06Z</dcterms:modified>
</cp:coreProperties>
</file>